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4663440" cy="603504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Automated Clinical Reporting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E"/>
                </a:solidFill>
                <a:latin typeface="Aptos"/>
              </a:rPr>
              <a:t>From raw test data to multilingual patient reports — built for a practicing psychologist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3749039" cy="548640"/>
          </a:xfrm>
          <a:prstGeom prst="roundRect">
            <a:avLst>
              <a:gd name="adj" fmla="val 12000"/>
            </a:avLst>
          </a:prstGeom>
          <a:solidFill>
            <a:srgbClr val="2A3C63"/>
          </a:solidFill>
          <a:ln>
            <a:solidFill>
              <a:srgbClr val="2A3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EXPERT-VETTED · 100% JSS · 1,900+ HRS · MSEE GEORGIA 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777240"/>
            <a:ext cx="5806440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15584" y="905256"/>
            <a:ext cx="5513832" cy="292608"/>
          </a:xfrm>
          <a:prstGeom prst="roundRect">
            <a:avLst>
              <a:gd name="adj" fmla="val 12000"/>
            </a:avLst>
          </a:prstGeom>
          <a:solidFill>
            <a:srgbClr val="F9F8F6"/>
          </a:solidFill>
          <a:ln>
            <a:solidFill>
              <a:srgbClr val="F9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7024" y="932688"/>
            <a:ext cx="5349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Aptos"/>
              </a:rPr>
              <a:t>Patient Progress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4" y="1143000"/>
            <a:ext cx="5349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76F7D"/>
                </a:solidFill>
                <a:latin typeface="Aptos"/>
              </a:rPr>
              <a:t>Synthetic public-safe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371600"/>
            <a:ext cx="5404104" cy="59436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0176" y="1453896"/>
            <a:ext cx="51846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4262A"/>
                </a:solidFill>
                <a:latin typeface="Aptos"/>
              </a:rPr>
              <a:t>Patient summary (Spanish)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1636776"/>
            <a:ext cx="5184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6F7D"/>
                </a:solidFill>
                <a:latin typeface="Aptos"/>
              </a:rPr>
              <a:t>Trend interpretation written for a non-technical reader.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0448" y="2075688"/>
            <a:ext cx="5404104" cy="109728"/>
          </a:xfrm>
          <a:prstGeom prst="rect">
            <a:avLst/>
          </a:prstGeom>
          <a:solidFill>
            <a:srgbClr val="E9ECF1"/>
          </a:solidFill>
          <a:ln>
            <a:solidFill>
              <a:srgbClr val="E9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70448" y="2386584"/>
            <a:ext cx="5404104" cy="109728"/>
          </a:xfrm>
          <a:prstGeom prst="rect">
            <a:avLst/>
          </a:prstGeom>
          <a:solidFill>
            <a:srgbClr val="E9ECF1"/>
          </a:solidFill>
          <a:ln>
            <a:solidFill>
              <a:srgbClr val="E9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70448" y="2697480"/>
            <a:ext cx="5404104" cy="109728"/>
          </a:xfrm>
          <a:prstGeom prst="rect">
            <a:avLst/>
          </a:prstGeom>
          <a:solidFill>
            <a:srgbClr val="E9ECF1"/>
          </a:solidFill>
          <a:ln>
            <a:solidFill>
              <a:srgbClr val="E9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5989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76F7D"/>
                </a:solidFill>
                <a:latin typeface="Aptos"/>
              </a:rPr>
              <a:t>Built with synthetic examples to protect client confidentiality.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Aptos"/>
              </a:rPr>
              <a:t>A Psychologist. Hundreds of Patients. Dozens of Test Types.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76F7D"/>
                </a:solidFill>
                <a:latin typeface="Aptos"/>
              </a:rPr>
              <a:t>Manual reporting was the bottleneck.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546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2011680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19659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Aptos"/>
              </a:rPr>
              <a:t>Growing patient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76F7D"/>
                </a:solidFill>
                <a:latin typeface="Aptos"/>
              </a:rPr>
              <a:t>No scalable reporting workflow for expanding caseload.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1546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3712" y="2011680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9659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Aptos"/>
              </a:rPr>
              <a:t>Hours lost per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8716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76F7D"/>
                </a:solidFill>
                <a:latin typeface="Aptos"/>
              </a:rPr>
              <a:t>Manual formatting and interpretation consumed clinical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1546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11312" y="2011680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9659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Aptos"/>
              </a:rPr>
              <a:t>Multilingual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48716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76F7D"/>
                </a:solidFill>
                <a:latin typeface="Aptos"/>
              </a:rPr>
              <a:t>Patients needed results in language they could actually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AF1DE"/>
          </a:solidFill>
          <a:ln>
            <a:solidFill>
              <a:srgbClr val="FA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48072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973A"/>
                </a:solidFill>
                <a:latin typeface="Aptos"/>
              </a:rPr>
              <a:t>The goal wasn't software. It was time back for the clinician.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Aptos"/>
              </a:rPr>
              <a:t>A Full-Stack Reporting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76F7D"/>
                </a:solidFill>
                <a:latin typeface="Aptos"/>
              </a:rPr>
              <a:t>From data intake through multilingual PDF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5528" y="19751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7864" y="1956816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Aptos"/>
              </a:rPr>
              <a:t>Test Data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40864"/>
            <a:ext cx="1472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6F7D"/>
                </a:solidFill>
                <a:latin typeface="Aptos"/>
              </a:rPr>
              <a:t>Bring repeated assessments into one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4872" y="216712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9B8E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18288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51760" y="19751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1956816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Aptos"/>
              </a:rPr>
              <a:t>Longitudinal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340864"/>
            <a:ext cx="1472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6F7D"/>
                </a:solidFill>
                <a:latin typeface="Aptos"/>
              </a:rPr>
              <a:t>Show change over time, not snapshots.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16712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9B8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8288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07992" y="19751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1956816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Aptos"/>
              </a:rPr>
              <a:t>Chart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340864"/>
            <a:ext cx="1472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6F7D"/>
                </a:solidFill>
                <a:latin typeface="Aptos"/>
              </a:rPr>
              <a:t>Produce visuals that support interpretation.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216712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9B8E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8288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64224" y="19751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956816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Aptos"/>
              </a:rPr>
              <a:t>Translation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340864"/>
            <a:ext cx="1472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6F7D"/>
                </a:solidFill>
                <a:latin typeface="Aptos"/>
              </a:rPr>
              <a:t>Prepare summaries in the patient's language.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216712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9B8E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0728" y="18288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0456" y="19751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1956816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Aptos"/>
              </a:rPr>
              <a:t>Final Report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2340864"/>
            <a:ext cx="1472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6F7D"/>
                </a:solidFill>
                <a:latin typeface="Aptos"/>
              </a:rPr>
              <a:t>Assemble a polished, clinician-ready document.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029200"/>
            <a:ext cx="10698480" cy="502920"/>
          </a:xfrm>
          <a:prstGeom prst="roundRect">
            <a:avLst>
              <a:gd name="adj" fmla="val 12000"/>
            </a:avLst>
          </a:prstGeom>
          <a:solidFill>
            <a:srgbClr val="EEF3F6"/>
          </a:solidFill>
          <a:ln>
            <a:solidFill>
              <a:srgbClr val="EE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93792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76F7D"/>
                </a:solidFill>
                <a:latin typeface="Aptos"/>
              </a:rPr>
              <a:t>Python · Flask · pandas · matplotlib · PostgreSQL · document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Aptos"/>
              </a:rPr>
              <a:t>What the Output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76F7D"/>
                </a:solidFill>
                <a:latin typeface="Aptos"/>
              </a:rPr>
              <a:t>Patient-friendly. Clinician-ready. Multilingual.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21208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5376672"/>
            <a:ext cx="4700016" cy="18288"/>
          </a:xfrm>
          <a:prstGeom prst="rect">
            <a:avLst/>
          </a:prstGeom>
          <a:solidFill>
            <a:srgbClr val="D9D6CE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2039112"/>
            <a:ext cx="18288" cy="3337560"/>
          </a:xfrm>
          <a:prstGeom prst="rect">
            <a:avLst/>
          </a:prstGeom>
          <a:solidFill>
            <a:srgbClr val="D9D6CE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4626864"/>
            <a:ext cx="91440" cy="91440"/>
          </a:xfrm>
          <a:prstGeom prst="ellipse">
            <a:avLst/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5431536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76F7D"/>
                </a:solidFill>
                <a:latin typeface="Aptos"/>
              </a:rPr>
              <a:t>T1</a:t>
            </a:r>
          </a:p>
        </p:txBody>
      </p:sp>
      <p:sp>
        <p:nvSpPr>
          <p:cNvPr id="9" name="Oval 8"/>
          <p:cNvSpPr/>
          <p:nvPr/>
        </p:nvSpPr>
        <p:spPr>
          <a:xfrm>
            <a:off x="2066544" y="3986784"/>
            <a:ext cx="91440" cy="91440"/>
          </a:xfrm>
          <a:prstGeom prst="ellipse">
            <a:avLst/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4248" y="5431536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76F7D"/>
                </a:solidFill>
                <a:latin typeface="Aptos"/>
              </a:rPr>
              <a:t>T2</a:t>
            </a:r>
          </a:p>
        </p:txBody>
      </p:sp>
      <p:sp>
        <p:nvSpPr>
          <p:cNvPr id="11" name="Oval 10"/>
          <p:cNvSpPr/>
          <p:nvPr/>
        </p:nvSpPr>
        <p:spPr>
          <a:xfrm>
            <a:off x="2852928" y="3538728"/>
            <a:ext cx="91440" cy="91440"/>
          </a:xfrm>
          <a:prstGeom prst="ellipse">
            <a:avLst/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5431536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76F7D"/>
                </a:solidFill>
                <a:latin typeface="Aptos"/>
              </a:rPr>
              <a:t>T3</a:t>
            </a:r>
          </a:p>
        </p:txBody>
      </p:sp>
      <p:sp>
        <p:nvSpPr>
          <p:cNvPr id="13" name="Oval 12"/>
          <p:cNvSpPr/>
          <p:nvPr/>
        </p:nvSpPr>
        <p:spPr>
          <a:xfrm>
            <a:off x="3639312" y="3346704"/>
            <a:ext cx="91440" cy="91440"/>
          </a:xfrm>
          <a:prstGeom prst="ellipse">
            <a:avLst/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5431536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76F7D"/>
                </a:solidFill>
                <a:latin typeface="Aptos"/>
              </a:rPr>
              <a:t>T4</a:t>
            </a:r>
          </a:p>
        </p:txBody>
      </p:sp>
      <p:sp>
        <p:nvSpPr>
          <p:cNvPr id="15" name="Oval 14"/>
          <p:cNvSpPr/>
          <p:nvPr/>
        </p:nvSpPr>
        <p:spPr>
          <a:xfrm>
            <a:off x="4425696" y="2802636"/>
            <a:ext cx="91440" cy="91440"/>
          </a:xfrm>
          <a:prstGeom prst="ellipse">
            <a:avLst/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5431536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76F7D"/>
                </a:solidFill>
                <a:latin typeface="Aptos"/>
              </a:rPr>
              <a:t>T5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2450592"/>
            <a:ext cx="91440" cy="91440"/>
          </a:xfrm>
          <a:prstGeom prst="ellipse">
            <a:avLst/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5431536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76F7D"/>
                </a:solidFill>
                <a:latin typeface="Aptos"/>
              </a:rPr>
              <a:t>T6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325880.0" y="4032504.0"/>
            <a:ext cx="786384.0" cy="640080.0"/>
          </a:xfrm>
          <a:prstGeom prst="line">
            <a:avLst/>
          </a:prstGeom>
          <a:ln w="31750">
            <a:solidFill>
              <a:srgbClr val="4A9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.0" y="3584448.0"/>
            <a:ext cx="786384.0" cy="448056.0"/>
          </a:xfrm>
          <a:prstGeom prst="line">
            <a:avLst/>
          </a:prstGeom>
          <a:ln w="31750">
            <a:solidFill>
              <a:srgbClr val="4A9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898648.0" y="3392424.0"/>
            <a:ext cx="786384.0" cy="192024.0"/>
          </a:xfrm>
          <a:prstGeom prst="line">
            <a:avLst/>
          </a:prstGeom>
          <a:ln w="31750">
            <a:solidFill>
              <a:srgbClr val="4A9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685032.0" y="2848356.0"/>
            <a:ext cx="786384.0" cy="544068.0"/>
          </a:xfrm>
          <a:prstGeom prst="line">
            <a:avLst/>
          </a:prstGeom>
          <a:ln w="31750">
            <a:solidFill>
              <a:srgbClr val="4A9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471416.0" y="2496312.0"/>
            <a:ext cx="786384.0" cy="352044.0"/>
          </a:xfrm>
          <a:prstGeom prst="line">
            <a:avLst/>
          </a:prstGeom>
          <a:ln w="31750">
            <a:solidFill>
              <a:srgbClr val="4A9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18013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76F7D"/>
                </a:solidFill>
                <a:latin typeface="Aptos"/>
              </a:rPr>
              <a:t>SYNTHETIC LONGITUDINAL TREND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691640"/>
            <a:ext cx="530352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18504" y="1819656"/>
            <a:ext cx="5010912" cy="292608"/>
          </a:xfrm>
          <a:prstGeom prst="roundRect">
            <a:avLst>
              <a:gd name="adj" fmla="val 12000"/>
            </a:avLst>
          </a:prstGeom>
          <a:solidFill>
            <a:srgbClr val="F9F8F6"/>
          </a:solidFill>
          <a:ln>
            <a:solidFill>
              <a:srgbClr val="F9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184708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Aptos"/>
              </a:rPr>
              <a:t>Patient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2057400"/>
            <a:ext cx="4846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76F7D"/>
                </a:solidFill>
                <a:latin typeface="Aptos"/>
              </a:rPr>
              <a:t>Synthetic bilingual example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3368" y="2286000"/>
            <a:ext cx="4901184" cy="59436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2368296"/>
            <a:ext cx="4681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4262A"/>
                </a:solidFill>
                <a:latin typeface="Aptos"/>
              </a:rPr>
              <a:t>Patient summary (English / Spanish)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2551176"/>
            <a:ext cx="46817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6F7D"/>
                </a:solidFill>
                <a:latin typeface="Aptos"/>
              </a:rPr>
              <a:t>Trend interpretation written for a non-technical reader.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2990088"/>
            <a:ext cx="4901184" cy="109728"/>
          </a:xfrm>
          <a:prstGeom prst="rect">
            <a:avLst/>
          </a:prstGeom>
          <a:solidFill>
            <a:srgbClr val="E9ECF1"/>
          </a:solidFill>
          <a:ln>
            <a:solidFill>
              <a:srgbClr val="E9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3300984"/>
            <a:ext cx="4901184" cy="109728"/>
          </a:xfrm>
          <a:prstGeom prst="rect">
            <a:avLst/>
          </a:prstGeom>
          <a:solidFill>
            <a:srgbClr val="E9ECF1"/>
          </a:solidFill>
          <a:ln>
            <a:solidFill>
              <a:srgbClr val="E9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73368" y="3611880"/>
            <a:ext cx="4901184" cy="109728"/>
          </a:xfrm>
          <a:prstGeom prst="rect">
            <a:avLst/>
          </a:prstGeom>
          <a:solidFill>
            <a:srgbClr val="E9ECF1"/>
          </a:solidFill>
          <a:ln>
            <a:solidFill>
              <a:srgbClr val="E9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98079" y="5440680"/>
            <a:ext cx="3108960" cy="566928"/>
          </a:xfrm>
          <a:prstGeom prst="roundRect">
            <a:avLst>
              <a:gd name="adj" fmla="val 12000"/>
            </a:avLst>
          </a:prstGeom>
          <a:solidFill>
            <a:srgbClr val="FAF1DE"/>
          </a:solidFill>
          <a:ln>
            <a:solidFill>
              <a:srgbClr val="FA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5605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973A"/>
                </a:solidFill>
                <a:latin typeface="Aptos"/>
              </a:rPr>
              <a:t>Generated in under 30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Aptos"/>
              </a:rPr>
              <a:t>What Clients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76F7D"/>
                </a:solidFill>
                <a:latin typeface="Aptos"/>
              </a:rPr>
              <a:t>Consistent quality. Long-term trust.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104241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Aptos"/>
              </a:rPr>
              <a:t>"I can highly recommend Michael for your software development needs. Michael has been consistent in delivering quality work."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76F7D"/>
                </a:solidFill>
                <a:latin typeface="Aptos"/>
              </a:rPr>
              <a:t>VERIFIED UPWORK CLIENT · LONG-RUNNING SOFTWARE DEVELOPMENT ENGAGEMENT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52628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45994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Aptos"/>
              </a:rPr>
              <a:t>100% Job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479145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76F7D"/>
                </a:solidFill>
                <a:latin typeface="Aptos"/>
              </a:rPr>
              <a:t>UPWORK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52628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4256" y="45994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Aptos"/>
              </a:rPr>
              <a:t>1,900+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479145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76F7D"/>
                </a:solidFill>
                <a:latin typeface="Aptos"/>
              </a:rPr>
              <a:t>BILLED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52628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45994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Aptos"/>
              </a:rPr>
              <a:t>Expert-Vetted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6" y="479145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76F7D"/>
                </a:solidFill>
                <a:latin typeface="Aptos"/>
              </a:rPr>
              <a:t>BY UPWORK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11338560" cy="5989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9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Aptos"/>
              </a:rPr>
              <a:t>Is Your Problem Similar?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76F7D"/>
                </a:solidFill>
                <a:latin typeface="Aptos"/>
              </a:rPr>
              <a:t>Complex data. Meaningful output. People who need clear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011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76F7D"/>
                </a:solidFill>
                <a:latin typeface="Aptos"/>
              </a:rPr>
              <a:t>STRONG FIT IF YOU NEED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68296"/>
            <a:ext cx="100584" cy="100584"/>
          </a:xfrm>
          <a:prstGeom prst="ellipse">
            <a:avLst/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86000"/>
            <a:ext cx="4224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4262A"/>
                </a:solidFill>
                <a:latin typeface="Aptos"/>
              </a:rPr>
              <a:t>Large or growing data volume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98648"/>
            <a:ext cx="100584" cy="100584"/>
          </a:xfrm>
          <a:prstGeom prst="ellipse">
            <a:avLst/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4224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4262A"/>
                </a:solidFill>
                <a:latin typeface="Aptos"/>
              </a:rPr>
              <a:t>Reporting that needs to scale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29000"/>
            <a:ext cx="100584" cy="100584"/>
          </a:xfrm>
          <a:prstGeom prst="ellipse">
            <a:avLst/>
          </a:prstGeom>
          <a:solidFill>
            <a:srgbClr val="C9973A"/>
          </a:solidFill>
          <a:ln>
            <a:solidFill>
              <a:srgbClr val="C9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346704"/>
            <a:ext cx="4224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4262A"/>
                </a:solidFill>
                <a:latin typeface="Aptos"/>
              </a:rPr>
              <a:t>Output that non-technical users will actually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76F7D"/>
                </a:solidFill>
                <a:latin typeface="Aptos"/>
              </a:rPr>
              <a:t>WHAT THIS DECK DEMONSTRATES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368296"/>
            <a:ext cx="100584" cy="100584"/>
          </a:xfrm>
          <a:prstGeom prst="ellipse">
            <a:avLst/>
          </a:prstGeom>
          <a:solidFill>
            <a:srgbClr val="4A9B8E"/>
          </a:solidFill>
          <a:ln>
            <a:solidFill>
              <a:srgbClr val="4A9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286000"/>
            <a:ext cx="4224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4262A"/>
                </a:solidFill>
                <a:latin typeface="Aptos"/>
              </a:rPr>
              <a:t>Python delivery with real workflow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898648"/>
            <a:ext cx="100584" cy="100584"/>
          </a:xfrm>
          <a:prstGeom prst="ellipse">
            <a:avLst/>
          </a:prstGeom>
          <a:solidFill>
            <a:srgbClr val="4A9B8E"/>
          </a:solidFill>
          <a:ln>
            <a:solidFill>
              <a:srgbClr val="4A9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816352"/>
            <a:ext cx="4224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4262A"/>
                </a:solidFill>
                <a:latin typeface="Aptos"/>
              </a:rPr>
              <a:t>Analytics carried through into final reporting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3429000"/>
            <a:ext cx="100584" cy="100584"/>
          </a:xfrm>
          <a:prstGeom prst="ellipse">
            <a:avLst/>
          </a:prstGeom>
          <a:solidFill>
            <a:srgbClr val="4A9B8E"/>
          </a:solidFill>
          <a:ln>
            <a:solidFill>
              <a:srgbClr val="4A9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346704"/>
            <a:ext cx="4224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4262A"/>
                </a:solidFill>
                <a:latin typeface="Aptos"/>
              </a:rPr>
              <a:t>High-trust client work sustained over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5166360"/>
            <a:ext cx="10058400" cy="658368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9692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76F7D"/>
                </a:solidFill>
                <a:latin typeface="Aptos"/>
              </a:rPr>
              <a:t>Upwork-safe version: no contact details included. This deck is intended as hiring collateral and project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